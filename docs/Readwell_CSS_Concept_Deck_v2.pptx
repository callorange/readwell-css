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5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6E4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82880"/>
            <a:ext cx="11789359" cy="6492240"/>
          </a:xfrm>
          <a:prstGeom prst="rect">
            <a:avLst/>
          </a:prstGeom>
          <a:solidFill>
            <a:srgbClr val="EFEEE7"/>
          </a:solidFill>
          <a:ln w="12700">
            <a:solidFill>
              <a:srgbClr val="59584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8580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241F"/>
                </a:solidFill>
              </a:rPr>
              <a:t>Readwell CSS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749808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24241F"/>
                </a:solidFill>
              </a:rPr>
              <a:t>읽는 시간이 길수록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24241F"/>
                </a:solidFill>
              </a:rPr>
              <a:t>조용한 화면이 좋아진다.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F6E65"/>
                </a:solidFill>
              </a:rPr>
              <a:t>E-Ink에서 얻은 절제를 일반 웹 UI로 옮기는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F6E65"/>
                </a:solidFill>
              </a:rPr>
              <a:t>저자극·장문 가독성 중심 CSS 프레임워크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281160" y="960120"/>
            <a:ext cx="2560320" cy="4937760"/>
          </a:xfrm>
          <a:prstGeom prst="rect">
            <a:avLst/>
          </a:prstGeom>
          <a:solidFill>
            <a:srgbClr val="F8F7F0"/>
          </a:solidFill>
          <a:ln w="15240">
            <a:solidFill>
              <a:srgbClr val="5958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81160" y="1874520"/>
            <a:ext cx="1737360" cy="0"/>
          </a:xfrm>
          <a:prstGeom prst="line">
            <a:avLst/>
          </a:prstGeom>
          <a:noFill/>
          <a:ln w="12700">
            <a:solidFill>
              <a:srgbClr val="9A99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81160" y="2331720"/>
            <a:ext cx="1554480" cy="0"/>
          </a:xfrm>
          <a:prstGeom prst="line">
            <a:avLst/>
          </a:prstGeom>
          <a:noFill/>
          <a:ln w="12700">
            <a:solidFill>
              <a:srgbClr val="9A99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2788920"/>
            <a:ext cx="1783080" cy="0"/>
          </a:xfrm>
          <a:prstGeom prst="line">
            <a:avLst/>
          </a:prstGeom>
          <a:noFill/>
          <a:ln w="12700">
            <a:solidFill>
              <a:srgbClr val="9A99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81160" y="3246120"/>
            <a:ext cx="1371600" cy="0"/>
          </a:xfrm>
          <a:prstGeom prst="line">
            <a:avLst/>
          </a:prstGeom>
          <a:noFill/>
          <a:ln w="12700">
            <a:solidFill>
              <a:srgbClr val="9A99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81160" y="3977640"/>
            <a:ext cx="1737360" cy="0"/>
          </a:xfrm>
          <a:prstGeom prst="line">
            <a:avLst/>
          </a:prstGeom>
          <a:noFill/>
          <a:ln w="12700">
            <a:solidFill>
              <a:srgbClr val="9A99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15400" y="4434840"/>
            <a:ext cx="1600200" cy="0"/>
          </a:xfrm>
          <a:prstGeom prst="line">
            <a:avLst/>
          </a:prstGeom>
          <a:noFill/>
          <a:ln w="12700">
            <a:solidFill>
              <a:srgbClr val="9A99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98280" y="6016752"/>
            <a:ext cx="914400" cy="310896"/>
          </a:xfrm>
          <a:prstGeom prst="rect">
            <a:avLst/>
          </a:prstGeom>
          <a:solidFill>
            <a:srgbClr val="EFEEE7"/>
          </a:solidFill>
          <a:ln w="10160">
            <a:solidFill>
              <a:srgbClr val="5958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71432" y="6071616"/>
            <a:ext cx="768096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2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LOW COLOR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104120" y="6016752"/>
            <a:ext cx="960120" cy="310896"/>
          </a:xfrm>
          <a:prstGeom prst="rect">
            <a:avLst/>
          </a:prstGeom>
          <a:solidFill>
            <a:srgbClr val="EFEEE7"/>
          </a:solidFill>
          <a:ln w="10160">
            <a:solidFill>
              <a:srgbClr val="5958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77272" y="6071616"/>
            <a:ext cx="813816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2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LOW MOTION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94360" y="64190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6E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Readwell CSS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201400" y="64190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F6E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6E4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82880"/>
            <a:ext cx="11789359" cy="6492240"/>
          </a:xfrm>
          <a:prstGeom prst="rect">
            <a:avLst/>
          </a:prstGeom>
          <a:solidFill>
            <a:srgbClr val="EFEEE7"/>
          </a:solidFill>
          <a:ln w="12700">
            <a:solidFill>
              <a:srgbClr val="59584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241F"/>
                </a:solidFill>
              </a:rPr>
              <a:t>문제: 읽는 화면이 너무 시끄럽다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102412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F6E65"/>
                </a:solidFill>
              </a:rPr>
              <a:t>텍스트 중심 서비스에서 장식이 콘텐츠보다 앞에 나오는 순간 피로가 커진다.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10835640" cy="0"/>
          </a:xfrm>
          <a:prstGeom prst="line">
            <a:avLst/>
          </a:prstGeom>
          <a:noFill/>
          <a:ln w="10160">
            <a:solidFill>
              <a:srgbClr val="9A99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241F"/>
                </a:solidFill>
              </a:rPr>
              <a:t>기존 웹 UI의 흔한 노이즈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331720"/>
            <a:ext cx="1691640" cy="475488"/>
          </a:xfrm>
          <a:prstGeom prst="rect">
            <a:avLst/>
          </a:prstGeom>
          <a:solidFill>
            <a:srgbClr val="EFEEE7"/>
          </a:solidFill>
          <a:ln w="12700">
            <a:solidFill>
              <a:srgbClr val="9A99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459736"/>
            <a:ext cx="14630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2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포인트 컬러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88920" y="2331720"/>
            <a:ext cx="1691640" cy="475488"/>
          </a:xfrm>
          <a:prstGeom prst="rect">
            <a:avLst/>
          </a:prstGeom>
          <a:solidFill>
            <a:srgbClr val="EFEEE7"/>
          </a:solidFill>
          <a:ln w="12700">
            <a:solidFill>
              <a:srgbClr val="9A99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98648" y="2459736"/>
            <a:ext cx="14630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2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그림자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" y="3081528"/>
            <a:ext cx="1691640" cy="475488"/>
          </a:xfrm>
          <a:prstGeom prst="rect">
            <a:avLst/>
          </a:prstGeom>
          <a:solidFill>
            <a:srgbClr val="EFEEE7"/>
          </a:solidFill>
          <a:ln w="12700">
            <a:solidFill>
              <a:srgbClr val="9A99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209544"/>
            <a:ext cx="14630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2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넓은 본문폭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88920" y="3081528"/>
            <a:ext cx="1691640" cy="475488"/>
          </a:xfrm>
          <a:prstGeom prst="rect">
            <a:avLst/>
          </a:prstGeom>
          <a:solidFill>
            <a:srgbClr val="EFEEE7"/>
          </a:solidFill>
          <a:ln w="12700">
            <a:solidFill>
              <a:srgbClr val="9A99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98648" y="3209544"/>
            <a:ext cx="14630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2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움직이는 UI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2960" y="3831336"/>
            <a:ext cx="1691640" cy="475488"/>
          </a:xfrm>
          <a:prstGeom prst="rect">
            <a:avLst/>
          </a:prstGeom>
          <a:solidFill>
            <a:srgbClr val="EFEEE7"/>
          </a:solidFill>
          <a:ln w="12700">
            <a:solidFill>
              <a:srgbClr val="9A99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959352"/>
            <a:ext cx="14630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2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과한 radius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88920" y="3831336"/>
            <a:ext cx="1691640" cy="475488"/>
          </a:xfrm>
          <a:prstGeom prst="rect">
            <a:avLst/>
          </a:prstGeom>
          <a:solidFill>
            <a:srgbClr val="EFEEE7"/>
          </a:solidFill>
          <a:ln w="12700">
            <a:solidFill>
              <a:srgbClr val="9A99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98648" y="3959352"/>
            <a:ext cx="14630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2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dense layout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937760" y="3154680"/>
            <a:ext cx="1143000" cy="0"/>
          </a:xfrm>
          <a:prstGeom prst="line">
            <a:avLst/>
          </a:prstGeom>
          <a:noFill/>
          <a:ln w="20320">
            <a:solidFill>
              <a:srgbClr val="59584F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6400800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241F"/>
                </a:solidFill>
              </a:rPr>
              <a:t>결과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0" y="24231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241F"/>
                </a:solidFill>
              </a:rPr>
              <a:t>글보다 UI가 먼저 보인다</a:t>
            </a:r>
            <a:endParaRPr lang="en-US" sz="2700" dirty="0"/>
          </a:p>
        </p:txBody>
      </p:sp>
      <p:sp>
        <p:nvSpPr>
          <p:cNvPr id="22" name="Shape 20"/>
          <p:cNvSpPr/>
          <p:nvPr/>
        </p:nvSpPr>
        <p:spPr>
          <a:xfrm>
            <a:off x="6400800" y="3063240"/>
            <a:ext cx="4206240" cy="0"/>
          </a:xfrm>
          <a:prstGeom prst="line">
            <a:avLst/>
          </a:prstGeom>
          <a:noFill/>
          <a:ln w="12700">
            <a:solidFill>
              <a:srgbClr val="9A99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3520440"/>
            <a:ext cx="425196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F6E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뉴스, 문서, 커뮤니티, 지식관리, 내부 보고서처럼 텍스트가 긴 서비스에서는 화려함보다 읽기 지속성이 중요하다.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94360" y="64190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6E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Readwell CSS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201400" y="64190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F6E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6E4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82880"/>
            <a:ext cx="11789359" cy="6492240"/>
          </a:xfrm>
          <a:prstGeom prst="rect">
            <a:avLst/>
          </a:prstGeom>
          <a:solidFill>
            <a:srgbClr val="EFEEE7"/>
          </a:solidFill>
          <a:ln w="12700">
            <a:solidFill>
              <a:srgbClr val="59584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241F"/>
                </a:solidFill>
              </a:rPr>
              <a:t>해결: E-Ink를 흉내내지 않고 제약을 가져온다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102412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F6E65"/>
                </a:solidFill>
              </a:rPr>
              <a:t>잔상·종이 질감 시뮬레이션이 아니라, 오래 읽기 편한 UI 규칙으로 번역한다.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10835640" cy="0"/>
          </a:xfrm>
          <a:prstGeom prst="line">
            <a:avLst/>
          </a:prstGeom>
          <a:noFill/>
          <a:ln w="10160">
            <a:solidFill>
              <a:srgbClr val="9A99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828800"/>
            <a:ext cx="3108960" cy="502920"/>
          </a:xfrm>
          <a:prstGeom prst="rect">
            <a:avLst/>
          </a:prstGeom>
          <a:solidFill>
            <a:srgbClr val="EFEEE7"/>
          </a:solidFill>
          <a:ln w="12700">
            <a:solidFill>
              <a:srgbClr val="9A99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975104"/>
            <a:ext cx="27432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2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낮은 색 표현력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51960" y="2080260"/>
            <a:ext cx="1234440" cy="0"/>
          </a:xfrm>
          <a:prstGeom prst="line">
            <a:avLst/>
          </a:prstGeom>
          <a:noFill/>
          <a:ln w="15240">
            <a:solidFill>
              <a:srgbClr val="59584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806440" y="1828800"/>
            <a:ext cx="3749040" cy="502920"/>
          </a:xfrm>
          <a:prstGeom prst="rect">
            <a:avLst/>
          </a:prstGeom>
          <a:solidFill>
            <a:srgbClr val="EFEEE7"/>
          </a:solidFill>
          <a:ln w="12700">
            <a:solidFill>
              <a:srgbClr val="9A99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9320" y="1975104"/>
            <a:ext cx="3383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2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저채도 팔레트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68680" y="2633472"/>
            <a:ext cx="3108960" cy="502920"/>
          </a:xfrm>
          <a:prstGeom prst="rect">
            <a:avLst/>
          </a:prstGeom>
          <a:solidFill>
            <a:srgbClr val="EFEEE7"/>
          </a:solidFill>
          <a:ln w="12700">
            <a:solidFill>
              <a:srgbClr val="9A99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779776"/>
            <a:ext cx="27432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2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느린 화면 갱신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251960" y="2884932"/>
            <a:ext cx="1234440" cy="0"/>
          </a:xfrm>
          <a:prstGeom prst="line">
            <a:avLst/>
          </a:prstGeom>
          <a:noFill/>
          <a:ln w="15240">
            <a:solidFill>
              <a:srgbClr val="59584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806440" y="2633472"/>
            <a:ext cx="3749040" cy="502920"/>
          </a:xfrm>
          <a:prstGeom prst="rect">
            <a:avLst/>
          </a:prstGeom>
          <a:solidFill>
            <a:srgbClr val="EFEEE7"/>
          </a:solidFill>
          <a:ln w="12700">
            <a:solidFill>
              <a:srgbClr val="9A99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2779776"/>
            <a:ext cx="3383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2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low-motion 기본값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68680" y="3438144"/>
            <a:ext cx="3108960" cy="502920"/>
          </a:xfrm>
          <a:prstGeom prst="rect">
            <a:avLst/>
          </a:prstGeom>
          <a:solidFill>
            <a:srgbClr val="EFEEE7"/>
          </a:solidFill>
          <a:ln w="12700">
            <a:solidFill>
              <a:srgbClr val="9A99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3584448"/>
            <a:ext cx="27432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2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강한 흑백 대비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251960" y="3689604"/>
            <a:ext cx="1234440" cy="0"/>
          </a:xfrm>
          <a:prstGeom prst="line">
            <a:avLst/>
          </a:prstGeom>
          <a:noFill/>
          <a:ln w="15240">
            <a:solidFill>
              <a:srgbClr val="59584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806440" y="3438144"/>
            <a:ext cx="3749040" cy="502920"/>
          </a:xfrm>
          <a:prstGeom prst="rect">
            <a:avLst/>
          </a:prstGeom>
          <a:solidFill>
            <a:srgbClr val="EFEEE7"/>
          </a:solidFill>
          <a:ln w="12700">
            <a:solidFill>
              <a:srgbClr val="9A99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3584448"/>
            <a:ext cx="3383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2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선·반전 중심 상태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68680" y="4242816"/>
            <a:ext cx="3108960" cy="502920"/>
          </a:xfrm>
          <a:prstGeom prst="rect">
            <a:avLst/>
          </a:prstGeom>
          <a:solidFill>
            <a:srgbClr val="EFEEE7"/>
          </a:solidFill>
          <a:ln w="12700">
            <a:solidFill>
              <a:srgbClr val="9A99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4389120"/>
            <a:ext cx="27432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2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정적인 독서 화면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251960" y="4494276"/>
            <a:ext cx="1234440" cy="0"/>
          </a:xfrm>
          <a:prstGeom prst="line">
            <a:avLst/>
          </a:prstGeom>
          <a:noFill/>
          <a:ln w="15240">
            <a:solidFill>
              <a:srgbClr val="59584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806440" y="4242816"/>
            <a:ext cx="3749040" cy="502920"/>
          </a:xfrm>
          <a:prstGeom prst="rect">
            <a:avLst/>
          </a:prstGeom>
          <a:solidFill>
            <a:srgbClr val="EFEEE7"/>
          </a:solidFill>
          <a:ln w="12700">
            <a:solidFill>
              <a:srgbClr val="9A99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89320" y="4389120"/>
            <a:ext cx="3383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2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content-first 레이아웃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14400" y="5532120"/>
            <a:ext cx="9509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41F"/>
                </a:solidFill>
              </a:rPr>
              <a:t>Readwell은 전자책 리더처럼 보이게 만드는 CSS가 아니라,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4241F"/>
                </a:solidFill>
              </a:rPr>
              <a:t>E-Ink의 절제를 일반 웹서비스에 적용하는 디자인 시스템이다.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94360" y="64190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6E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Readwell CSS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201400" y="64190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F6E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6E4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82880"/>
            <a:ext cx="11789359" cy="6492240"/>
          </a:xfrm>
          <a:prstGeom prst="rect">
            <a:avLst/>
          </a:prstGeom>
          <a:solidFill>
            <a:srgbClr val="EFEEE7"/>
          </a:solidFill>
          <a:ln w="12700">
            <a:solidFill>
              <a:srgbClr val="59584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241F"/>
                </a:solidFill>
              </a:rPr>
              <a:t>제품 범위: CSS 프레임워크 + 브라우저 확장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102412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F6E65"/>
                </a:solidFill>
              </a:rPr>
              <a:t>같은 디자인 토큰으로 개발자와 일반 사용자를 모두 지원한다.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10835640" cy="0"/>
          </a:xfrm>
          <a:prstGeom prst="line">
            <a:avLst/>
          </a:prstGeom>
          <a:noFill/>
          <a:ln w="10160">
            <a:solidFill>
              <a:srgbClr val="9A99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874520"/>
            <a:ext cx="4389120" cy="3063240"/>
          </a:xfrm>
          <a:prstGeom prst="rect">
            <a:avLst/>
          </a:prstGeom>
          <a:solidFill>
            <a:srgbClr val="EFEEE7"/>
          </a:solidFill>
          <a:ln w="12700">
            <a:solidFill>
              <a:srgbClr val="9A99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46520" y="1874520"/>
            <a:ext cx="4389120" cy="3063240"/>
          </a:xfrm>
          <a:prstGeom prst="rect">
            <a:avLst/>
          </a:prstGeom>
          <a:solidFill>
            <a:srgbClr val="EFEEE7"/>
          </a:solidFill>
          <a:ln w="12700">
            <a:solidFill>
              <a:srgbClr val="9A99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2128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241F"/>
                </a:solidFill>
              </a:rPr>
              <a:t>Readwell CSS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17320" y="26974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6E65"/>
                </a:solidFill>
              </a:rPr>
              <a:t>웹 개발자용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17320" y="3246120"/>
            <a:ext cx="347472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242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semantic-first 기본 스타일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242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rw- prefix class API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242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form/table/nav/dialog 지원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242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E-Ink/low-motion mode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720840" y="22128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241F"/>
                </a:solidFill>
              </a:rPr>
              <a:t>Readwell Extension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903720" y="26974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6E65"/>
                </a:solidFill>
              </a:rPr>
              <a:t>일반 사용자용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03720" y="3246120"/>
            <a:ext cx="347472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242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기존 사이트 색감 변경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242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사이트별 on/off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242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Color / Calm / Reading 모드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242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같은 토큰 공유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13248" y="3410712"/>
            <a:ext cx="960120" cy="0"/>
          </a:xfrm>
          <a:prstGeom prst="line">
            <a:avLst/>
          </a:prstGeom>
          <a:noFill/>
          <a:ln w="15240">
            <a:solidFill>
              <a:srgbClr val="5958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49824" y="368503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F6E65"/>
                </a:solidFill>
              </a:rPr>
              <a:t>shared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6F6E65"/>
                </a:solidFill>
              </a:rPr>
              <a:t>tokens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94360" y="64190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6E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Readwell CSS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201400" y="64190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F6E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6E4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82880"/>
            <a:ext cx="11789359" cy="6492240"/>
          </a:xfrm>
          <a:prstGeom prst="rect">
            <a:avLst/>
          </a:prstGeom>
          <a:solidFill>
            <a:srgbClr val="EFEEE7"/>
          </a:solidFill>
          <a:ln w="12700">
            <a:solidFill>
              <a:srgbClr val="59584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241F"/>
                </a:solidFill>
              </a:rPr>
              <a:t>디자인 원칙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102412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F6E65"/>
                </a:solidFill>
              </a:rPr>
              <a:t>예쁜 테마보다 오래 읽기 편한 기본값을 우선한다.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10835640" cy="0"/>
          </a:xfrm>
          <a:prstGeom prst="line">
            <a:avLst/>
          </a:prstGeom>
          <a:noFill/>
          <a:ln w="10160">
            <a:solidFill>
              <a:srgbClr val="9A99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395728"/>
            <a:ext cx="4114800" cy="0"/>
          </a:xfrm>
          <a:prstGeom prst="line">
            <a:avLst/>
          </a:prstGeom>
          <a:noFill/>
          <a:ln w="10160">
            <a:solidFill>
              <a:srgbClr val="9A99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830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41F"/>
                </a:solidFill>
              </a:rPr>
              <a:t>Low Color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F6E65"/>
                </a:solidFill>
              </a:rPr>
              <a:t>색상은 적게, 대비는 충분히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26480" y="2395728"/>
            <a:ext cx="4114800" cy="0"/>
          </a:xfrm>
          <a:prstGeom prst="line">
            <a:avLst/>
          </a:prstGeom>
          <a:noFill/>
          <a:ln w="10160">
            <a:solidFill>
              <a:srgbClr val="9A99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7830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41F"/>
                </a:solidFill>
              </a:rPr>
              <a:t>Strong Structure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126480" y="21945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F6E65"/>
                </a:solidFill>
              </a:rPr>
              <a:t>여백·선·글자 위계로 구조화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68680" y="3621024"/>
            <a:ext cx="4114800" cy="0"/>
          </a:xfrm>
          <a:prstGeom prst="line">
            <a:avLst/>
          </a:prstGeom>
          <a:noFill/>
          <a:ln w="10160">
            <a:solidFill>
              <a:srgbClr val="9A99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00837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41F"/>
                </a:solidFill>
              </a:rPr>
              <a:t>Quiet Surface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68680" y="341985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F6E65"/>
                </a:solidFill>
              </a:rPr>
              <a:t>shadow·gradient·과한 radius 억제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126480" y="3621024"/>
            <a:ext cx="4114800" cy="0"/>
          </a:xfrm>
          <a:prstGeom prst="line">
            <a:avLst/>
          </a:prstGeom>
          <a:noFill/>
          <a:ln w="10160">
            <a:solidFill>
              <a:srgbClr val="9A99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300837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41F"/>
                </a:solidFill>
              </a:rPr>
              <a:t>Reading First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126480" y="341985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F6E65"/>
                </a:solidFill>
              </a:rPr>
              <a:t>본문 폭 42~46rem, 행간 1.65~1.75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68680" y="4846320"/>
            <a:ext cx="4114800" cy="0"/>
          </a:xfrm>
          <a:prstGeom prst="line">
            <a:avLst/>
          </a:prstGeom>
          <a:noFill/>
          <a:ln w="10160">
            <a:solidFill>
              <a:srgbClr val="9A99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2336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41F"/>
                </a:solidFill>
              </a:rPr>
              <a:t>Low Motion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68680" y="46451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F6E65"/>
                </a:solidFill>
              </a:rPr>
              <a:t>animation은 기본값이 아니라 선택값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126480" y="4846320"/>
            <a:ext cx="4114800" cy="0"/>
          </a:xfrm>
          <a:prstGeom prst="line">
            <a:avLst/>
          </a:prstGeom>
          <a:noFill/>
          <a:ln w="10160">
            <a:solidFill>
              <a:srgbClr val="9A99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42336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41F"/>
                </a:solidFill>
              </a:rPr>
              <a:t>State Without Color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126480" y="46451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F6E65"/>
                </a:solidFill>
              </a:rPr>
              <a:t>색이 없어도 상태가 읽히게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94360" y="64190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6E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Readwell CSS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201400" y="64190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F6E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6E4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82880"/>
            <a:ext cx="11789359" cy="6492240"/>
          </a:xfrm>
          <a:prstGeom prst="rect">
            <a:avLst/>
          </a:prstGeom>
          <a:solidFill>
            <a:srgbClr val="EFEEE7"/>
          </a:solidFill>
          <a:ln w="12700">
            <a:solidFill>
              <a:srgbClr val="59584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241F"/>
                </a:solidFill>
              </a:rPr>
              <a:t>CSS 구조: classless가 아니라 class-friendly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102412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F6E65"/>
                </a:solidFill>
              </a:rPr>
              <a:t>기본 HTML은 편하게, 실제 서비스 레이아웃은 명시적인 class로 제어한다.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10835640" cy="0"/>
          </a:xfrm>
          <a:prstGeom prst="line">
            <a:avLst/>
          </a:prstGeom>
          <a:noFill/>
          <a:ln w="10160">
            <a:solidFill>
              <a:srgbClr val="9A99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28800"/>
            <a:ext cx="5029200" cy="3566160"/>
          </a:xfrm>
          <a:prstGeom prst="rect">
            <a:avLst/>
          </a:prstGeom>
          <a:solidFill>
            <a:srgbClr val="EFEEE7"/>
          </a:solidFill>
          <a:ln w="12700">
            <a:solidFill>
              <a:srgbClr val="9A99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148840"/>
            <a:ext cx="4572000" cy="2423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24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 class="rw-container"&gt;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24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&lt;article class="rw-reading"&gt;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24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 class="rw-meta"&gt;읽기 7분&lt;/p&gt;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24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&lt;h1&gt;조용한 화면&lt;/h1&gt;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24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&lt;p&gt;본문...&lt;/p&gt;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24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&lt;/article&gt;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24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&lt;/main&gt;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37960" y="1810512"/>
            <a:ext cx="3108960" cy="329184"/>
          </a:xfrm>
          <a:prstGeom prst="rect">
            <a:avLst/>
          </a:prstGeom>
          <a:solidFill>
            <a:srgbClr val="EFEEE7"/>
          </a:solidFill>
          <a:ln w="12700">
            <a:solidFill>
              <a:srgbClr val="9A99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1901952"/>
            <a:ext cx="82296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42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tokens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909560" y="1901952"/>
            <a:ext cx="141732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F6E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CSS variables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6537960" y="2331720"/>
            <a:ext cx="3108960" cy="329184"/>
          </a:xfrm>
          <a:prstGeom prst="rect">
            <a:avLst/>
          </a:prstGeom>
          <a:solidFill>
            <a:srgbClr val="EFEEE7"/>
          </a:solidFill>
          <a:ln w="12700">
            <a:solidFill>
              <a:srgbClr val="9A99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2423160"/>
            <a:ext cx="82296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42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09560" y="2423160"/>
            <a:ext cx="141732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F6E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 defaults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6537960" y="2852928"/>
            <a:ext cx="3108960" cy="329184"/>
          </a:xfrm>
          <a:prstGeom prst="rect">
            <a:avLst/>
          </a:prstGeom>
          <a:solidFill>
            <a:srgbClr val="EFEEE7"/>
          </a:solidFill>
          <a:ln w="12700">
            <a:solidFill>
              <a:srgbClr val="9A99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2944368"/>
            <a:ext cx="82296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42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layout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09560" y="2944368"/>
            <a:ext cx="141732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F6E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container/reading/grid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6537960" y="3374136"/>
            <a:ext cx="3108960" cy="329184"/>
          </a:xfrm>
          <a:prstGeom prst="rect">
            <a:avLst/>
          </a:prstGeom>
          <a:solidFill>
            <a:srgbClr val="EFEEE7"/>
          </a:solidFill>
          <a:ln w="12700">
            <a:solidFill>
              <a:srgbClr val="9A99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3465576"/>
            <a:ext cx="82296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42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elements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09560" y="3465576"/>
            <a:ext cx="141732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F6E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button/form/table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6537960" y="3895344"/>
            <a:ext cx="3108960" cy="329184"/>
          </a:xfrm>
          <a:prstGeom prst="rect">
            <a:avLst/>
          </a:prstGeom>
          <a:solidFill>
            <a:srgbClr val="EFEEE7"/>
          </a:solidFill>
          <a:ln w="12700">
            <a:solidFill>
              <a:srgbClr val="9A99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3986784"/>
            <a:ext cx="82296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42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components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909560" y="3986784"/>
            <a:ext cx="141732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F6E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panel/badge/toc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6537960" y="4416552"/>
            <a:ext cx="3108960" cy="329184"/>
          </a:xfrm>
          <a:prstGeom prst="rect">
            <a:avLst/>
          </a:prstGeom>
          <a:solidFill>
            <a:srgbClr val="EFEEE7"/>
          </a:solidFill>
          <a:ln w="12700">
            <a:solidFill>
              <a:srgbClr val="9A99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4507992"/>
            <a:ext cx="82296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42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909560" y="4507992"/>
            <a:ext cx="141732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F6E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eink/low-motion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6537960" y="521208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241F"/>
                </a:solidFill>
              </a:rPr>
              <a:t>rw- prefix와 --rw-* 토큰으로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4241F"/>
                </a:solidFill>
              </a:rPr>
              <a:t>충돌은 줄이고 커스터마이징은 쉽게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94360" y="64190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6E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Readwell CSS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201400" y="64190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F6E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6E4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82880"/>
            <a:ext cx="11789359" cy="6492240"/>
          </a:xfrm>
          <a:prstGeom prst="rect">
            <a:avLst/>
          </a:prstGeom>
          <a:solidFill>
            <a:srgbClr val="EFEEE7"/>
          </a:solidFill>
          <a:ln w="12700">
            <a:solidFill>
              <a:srgbClr val="59584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241F"/>
                </a:solidFill>
              </a:rPr>
              <a:t>Chrome Extension: 기존 웹도 더 편하게 읽기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102412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F6E65"/>
                </a:solidFill>
              </a:rPr>
              <a:t>사이트를 완전히 재디자인하지 않고, 적용 강도를 사용자가 고른다.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10835640" cy="0"/>
          </a:xfrm>
          <a:prstGeom prst="line">
            <a:avLst/>
          </a:prstGeom>
          <a:noFill/>
          <a:ln w="10160">
            <a:solidFill>
              <a:srgbClr val="9A99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2331720"/>
            <a:ext cx="1143000" cy="0"/>
          </a:xfrm>
          <a:prstGeom prst="line">
            <a:avLst/>
          </a:prstGeom>
          <a:noFill/>
          <a:ln w="16510">
            <a:solidFill>
              <a:srgbClr val="59584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697480" y="1828800"/>
            <a:ext cx="5897880" cy="777240"/>
          </a:xfrm>
          <a:prstGeom prst="rect">
            <a:avLst/>
          </a:prstGeom>
          <a:solidFill>
            <a:srgbClr val="EFEEE7"/>
          </a:solidFill>
          <a:ln w="12700">
            <a:solidFill>
              <a:srgbClr val="9A99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200253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241F"/>
                </a:solidFill>
              </a:rPr>
              <a:t>Color only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46320" y="20391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F6E65"/>
                </a:solidFill>
              </a:rPr>
              <a:t>배경·글자·링크·border 색상만 변경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006840" y="2057400"/>
            <a:ext cx="1371600" cy="310896"/>
          </a:xfrm>
          <a:prstGeom prst="rect">
            <a:avLst/>
          </a:prstGeom>
          <a:solidFill>
            <a:srgbClr val="EFEEE7"/>
          </a:solidFill>
          <a:ln w="10160">
            <a:solidFill>
              <a:srgbClr val="5958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79992" y="2112264"/>
            <a:ext cx="1225296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2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깨짐 위험 낮음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234440" y="3474720"/>
            <a:ext cx="1143000" cy="0"/>
          </a:xfrm>
          <a:prstGeom prst="line">
            <a:avLst/>
          </a:prstGeom>
          <a:noFill/>
          <a:ln w="16510">
            <a:solidFill>
              <a:srgbClr val="59584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697480" y="2971800"/>
            <a:ext cx="5897880" cy="777240"/>
          </a:xfrm>
          <a:prstGeom prst="rect">
            <a:avLst/>
          </a:prstGeom>
          <a:solidFill>
            <a:srgbClr val="EFEEE7"/>
          </a:solidFill>
          <a:ln w="12700">
            <a:solidFill>
              <a:srgbClr val="9A99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314553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241F"/>
                </a:solidFill>
              </a:rPr>
              <a:t>Calm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46320" y="31821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F6E65"/>
                </a:solidFill>
              </a:rPr>
              <a:t>Color + shadow/animation/gradient 제거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006840" y="3200400"/>
            <a:ext cx="1371600" cy="310896"/>
          </a:xfrm>
          <a:prstGeom prst="rect">
            <a:avLst/>
          </a:prstGeom>
          <a:solidFill>
            <a:srgbClr val="EFEEE7"/>
          </a:solidFill>
          <a:ln w="10160">
            <a:solidFill>
              <a:srgbClr val="5958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79992" y="3255264"/>
            <a:ext cx="1225296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2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깨짐 위험 중간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234440" y="4617720"/>
            <a:ext cx="1143000" cy="0"/>
          </a:xfrm>
          <a:prstGeom prst="line">
            <a:avLst/>
          </a:prstGeom>
          <a:noFill/>
          <a:ln w="16510">
            <a:solidFill>
              <a:srgbClr val="59584F"/>
            </a:solidFill>
            <a:prstDash val="solid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2697480" y="4114800"/>
            <a:ext cx="5897880" cy="777240"/>
          </a:xfrm>
          <a:prstGeom prst="rect">
            <a:avLst/>
          </a:prstGeom>
          <a:solidFill>
            <a:srgbClr val="EFEEE7"/>
          </a:solidFill>
          <a:ln w="12700">
            <a:solidFill>
              <a:srgbClr val="9A99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428853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241F"/>
                </a:solidFill>
              </a:rPr>
              <a:t>Reading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846320" y="43251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F6E65"/>
                </a:solidFill>
              </a:rPr>
              <a:t>Calm + 본문 폭·행간·폰트 조정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006840" y="4343400"/>
            <a:ext cx="1371600" cy="310896"/>
          </a:xfrm>
          <a:prstGeom prst="rect">
            <a:avLst/>
          </a:prstGeom>
          <a:solidFill>
            <a:srgbClr val="EFEEE7"/>
          </a:solidFill>
          <a:ln w="10160">
            <a:solidFill>
              <a:srgbClr val="5958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79992" y="4398264"/>
            <a:ext cx="1225296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2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깨짐 위험 높음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97280" y="54406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241F"/>
                </a:solidFill>
              </a:rPr>
              <a:t>권장 원칙: 색상 변경은 안전하게, 레이아웃 변경은 opt-in으로.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94360" y="64190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6E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Readwell CSS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201400" y="64190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F6E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6E4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82880"/>
            <a:ext cx="11789359" cy="6492240"/>
          </a:xfrm>
          <a:prstGeom prst="rect">
            <a:avLst/>
          </a:prstGeom>
          <a:solidFill>
            <a:srgbClr val="EFEEE7"/>
          </a:solidFill>
          <a:ln w="12700">
            <a:solidFill>
              <a:srgbClr val="59584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241F"/>
                </a:solidFill>
              </a:rPr>
              <a:t>MVP 로드맵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102412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F6E65"/>
                </a:solidFill>
              </a:rPr>
              <a:t>먼저 작은 CSS와 예제로 검증하고, 이후 확장 기능으로 적용 범위를 넓힌다.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10835640" cy="0"/>
          </a:xfrm>
          <a:prstGeom prst="line">
            <a:avLst/>
          </a:prstGeom>
          <a:noFill/>
          <a:ln w="10160">
            <a:solidFill>
              <a:srgbClr val="9A99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57400" y="3273552"/>
            <a:ext cx="1051560" cy="0"/>
          </a:xfrm>
          <a:prstGeom prst="line">
            <a:avLst/>
          </a:prstGeom>
          <a:noFill/>
          <a:ln w="13970">
            <a:solidFill>
              <a:srgbClr val="59584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22960" y="2514600"/>
            <a:ext cx="1508760" cy="1417320"/>
          </a:xfrm>
          <a:prstGeom prst="rect">
            <a:avLst/>
          </a:prstGeom>
          <a:solidFill>
            <a:srgbClr val="EFEEE7"/>
          </a:solidFill>
          <a:ln w="12700">
            <a:solidFill>
              <a:srgbClr val="5958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77063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4241F"/>
                </a:solidFill>
              </a:rPr>
              <a:t>M1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9264" y="3218688"/>
            <a:ext cx="120700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F6E65"/>
                </a:solidFill>
              </a:rPr>
              <a:t>문서·토큰 확정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06240" y="3273552"/>
            <a:ext cx="1051560" cy="0"/>
          </a:xfrm>
          <a:prstGeom prst="line">
            <a:avLst/>
          </a:prstGeom>
          <a:noFill/>
          <a:ln w="13970">
            <a:solidFill>
              <a:srgbClr val="59584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71800" y="2514600"/>
            <a:ext cx="1508760" cy="1417320"/>
          </a:xfrm>
          <a:prstGeom prst="rect">
            <a:avLst/>
          </a:prstGeom>
          <a:solidFill>
            <a:srgbClr val="20201C"/>
          </a:solidFill>
          <a:ln w="12700">
            <a:solidFill>
              <a:srgbClr val="5958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277063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1EA"/>
                </a:solidFill>
              </a:rPr>
              <a:t>M2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118104" y="3218688"/>
            <a:ext cx="120700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2F1EA"/>
                </a:solidFill>
              </a:rPr>
              <a:t>readwell.css MVP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55080" y="3273552"/>
            <a:ext cx="1051560" cy="0"/>
          </a:xfrm>
          <a:prstGeom prst="line">
            <a:avLst/>
          </a:prstGeom>
          <a:noFill/>
          <a:ln w="13970">
            <a:solidFill>
              <a:srgbClr val="59584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120640" y="2514600"/>
            <a:ext cx="1508760" cy="1417320"/>
          </a:xfrm>
          <a:prstGeom prst="rect">
            <a:avLst/>
          </a:prstGeom>
          <a:solidFill>
            <a:srgbClr val="EFEEE7"/>
          </a:solidFill>
          <a:ln w="12700">
            <a:solidFill>
              <a:srgbClr val="5958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0" y="277063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4241F"/>
                </a:solidFill>
              </a:rPr>
              <a:t>M3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66944" y="3218688"/>
            <a:ext cx="120700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F6E65"/>
                </a:solidFill>
              </a:rPr>
              <a:t>예제 3종 제작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503920" y="3273552"/>
            <a:ext cx="1051560" cy="0"/>
          </a:xfrm>
          <a:prstGeom prst="line">
            <a:avLst/>
          </a:prstGeom>
          <a:noFill/>
          <a:ln w="13970">
            <a:solidFill>
              <a:srgbClr val="59584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269480" y="2514600"/>
            <a:ext cx="1508760" cy="1417320"/>
          </a:xfrm>
          <a:prstGeom prst="rect">
            <a:avLst/>
          </a:prstGeom>
          <a:solidFill>
            <a:srgbClr val="EFEEE7"/>
          </a:solidFill>
          <a:ln w="12700">
            <a:solidFill>
              <a:srgbClr val="5958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2360" y="277063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4241F"/>
                </a:solidFill>
              </a:rPr>
              <a:t>M4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415784" y="3218688"/>
            <a:ext cx="120700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F6E65"/>
                </a:solidFill>
              </a:rPr>
              <a:t>Extension 프로토타입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418320" y="2514600"/>
            <a:ext cx="1508760" cy="1417320"/>
          </a:xfrm>
          <a:prstGeom prst="rect">
            <a:avLst/>
          </a:prstGeom>
          <a:solidFill>
            <a:srgbClr val="EFEEE7"/>
          </a:solidFill>
          <a:ln w="12700">
            <a:solidFill>
              <a:srgbClr val="5958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77063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4241F"/>
                </a:solidFill>
              </a:rPr>
              <a:t>M5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564624" y="3218688"/>
            <a:ext cx="120700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F6E65"/>
                </a:solidFill>
              </a:rPr>
              <a:t>문서 사이트·배포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14400" y="48920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241F"/>
                </a:solidFill>
              </a:rPr>
              <a:t>MVP 완료 기준: CSS 하나로 article/news/form 예제가 일관되게 보이고, 토큰만 바꿔도 자기 서비스에 맞출 수 있다.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94360" y="64190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6E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Readwell CSS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201400" y="64190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F6E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F6E65"/>
                </a:solidFill>
                <a:latin typeface="Malgun Gothic"/>
              </a:rPr>
              <a:t>Readwell CSS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560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F6E65"/>
                </a:solidFill>
                <a:latin typeface="Malgun Gothic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79552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4241F"/>
                </a:solidFill>
                <a:latin typeface="Malgun Gothic"/>
              </a:rPr>
              <a:t>컴포넌트 전략: 충분히 쓰되 조용하게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81328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46463D"/>
                </a:solidFill>
                <a:latin typeface="Malgun Gothic"/>
              </a:rPr>
              <a:t>Pico 수준의 기본 UI 커버리지를 기준선으로 삼고, 장문·콘텐츠 중심 서비스에 필요한 컴포넌트를 추가한다.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993392"/>
            <a:ext cx="10058400" cy="9144"/>
          </a:xfrm>
          <a:prstGeom prst="rect">
            <a:avLst/>
          </a:prstGeom>
          <a:solidFill>
            <a:srgbClr val="9A998F"/>
          </a:solidFill>
          <a:ln>
            <a:solidFill>
              <a:srgbClr val="9A9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2331720"/>
            <a:ext cx="2971800" cy="2423160"/>
          </a:xfrm>
          <a:prstGeom prst="rect">
            <a:avLst/>
          </a:prstGeom>
          <a:solidFill>
            <a:srgbClr val="EFEEE7"/>
          </a:solidFill>
          <a:ln>
            <a:solidFill>
              <a:srgbClr val="595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5146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4241F"/>
                </a:solidFill>
                <a:latin typeface="Malgun Gothic"/>
              </a:rPr>
              <a:t>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971800"/>
            <a:ext cx="2606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4241F"/>
                </a:solidFill>
                <a:latin typeface="Malgun Gothic"/>
              </a:rPr>
              <a:t>Layout / Content / Form</a:t>
            </a:r>
            <a:br/>
            <a:r>
              <a:t>Card · Panel · Callout</a:t>
            </a:r>
            <a:br/>
            <a:r>
              <a:t>Nav · Breadcrumb · Pagination</a:t>
            </a:r>
            <a:br/>
            <a:r>
              <a:t>Table · Badge · TOC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2331720"/>
            <a:ext cx="2971800" cy="2423160"/>
          </a:xfrm>
          <a:prstGeom prst="rect">
            <a:avLst/>
          </a:prstGeom>
          <a:solidFill>
            <a:srgbClr val="EFEEE7"/>
          </a:solidFill>
          <a:ln>
            <a:solidFill>
              <a:srgbClr val="595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79392" y="25146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4241F"/>
                </a:solidFill>
                <a:latin typeface="Malgun Gothic"/>
              </a:rPr>
              <a:t>Native interactive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9392" y="2971800"/>
            <a:ext cx="2606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4241F"/>
                </a:solidFill>
                <a:latin typeface="Malgun Gothic"/>
              </a:rPr>
              <a:t>details / summary</a:t>
            </a:r>
            <a:br/>
            <a:r>
              <a:t>dialog</a:t>
            </a:r>
            <a:br/>
            <a:r>
              <a:t>progress</a:t>
            </a:r>
            <a:br/>
            <a:r>
              <a:t>checkbox role=switch</a:t>
            </a:r>
            <a:br/>
            <a:r>
              <a:t>동작은 HTML 기본 기능 우선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16368" y="2331720"/>
            <a:ext cx="2971800" cy="2423160"/>
          </a:xfrm>
          <a:prstGeom prst="rect">
            <a:avLst/>
          </a:prstGeom>
          <a:solidFill>
            <a:srgbClr val="EFEEE7"/>
          </a:solidFill>
          <a:ln>
            <a:solidFill>
              <a:srgbClr val="595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25146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4241F"/>
                </a:solidFill>
                <a:latin typeface="Malgun Gothic"/>
              </a:rPr>
              <a:t>제외 또는 후순위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971800"/>
            <a:ext cx="2606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4241F"/>
                </a:solidFill>
                <a:latin typeface="Malgun Gothic"/>
              </a:rPr>
              <a:t>Carousel · Toast · Offcanvas</a:t>
            </a:r>
            <a:br/>
            <a:r>
              <a:t>Command palette</a:t>
            </a:r>
            <a:br/>
            <a:r>
              <a:t>복잡한 Popover / Combobox</a:t>
            </a:r>
            <a:br/>
            <a:r>
              <a:t>과도한 animated widget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507492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4241F"/>
                </a:solidFill>
                <a:latin typeface="Malgun Gothic"/>
              </a:rPr>
              <a:t>원칙: Readwell은 UI의 표현을 담당하지만 애플리케이션 상태와 동작을 관리하지 않는다.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55955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6463D"/>
                </a:solidFill>
                <a:latin typeface="Malgun Gothic"/>
              </a:rPr>
              <a:t>따라서 Bootstrap처럼 JS 위젯 전체를 떠안지 않고, Tailwind처럼 모든 것을 utility로만 넘기지도 않는 중간 지점을 목표로 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Readwell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Readwell CSS Concept Deck</dc:title>
  <dc:subject>Readwell CSS Concept</dc:subject>
  <dc:creator>OpenAI</dc:creator>
  <cp:lastModifiedBy>OpenAI</cp:lastModifiedBy>
  <cp:revision>1</cp:revision>
  <dcterms:created xsi:type="dcterms:W3CDTF">2026-08-30T05:25:35Z</dcterms:created>
  <dcterms:modified xsi:type="dcterms:W3CDTF">2026-08-30T05:25:35Z</dcterms:modified>
</cp:coreProperties>
</file>